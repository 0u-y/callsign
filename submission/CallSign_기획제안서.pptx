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SIGN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38912"/>
            <a:ext cx="164592" cy="164592"/>
          </a:xfrm>
          <a:prstGeom prst="line">
            <a:avLst/>
          </a:prstGeom>
          <a:noFill/>
          <a:ln w="25400">
            <a:solidFill>
              <a:srgbClr val="087F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539496"/>
            <a:ext cx="164592" cy="164592"/>
          </a:xfrm>
          <a:prstGeom prst="line">
            <a:avLst/>
          </a:prstGeom>
          <a:noFill/>
          <a:ln w="25400">
            <a:solidFill>
              <a:srgbClr val="087F7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3840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242D"/>
                </a:solidFill>
              </a:rPr>
              <a:t>CallSign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738360" y="39319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36F"/>
                </a:solidFill>
              </a:rPr>
              <a:t>TEAM Signal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6473952"/>
            <a:ext cx="11365992" cy="0"/>
          </a:xfrm>
          <a:prstGeom prst="line">
            <a:avLst/>
          </a:prstGeom>
          <a:noFill/>
          <a:ln w="12700">
            <a:solidFill>
              <a:srgbClr val="DCE4E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363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363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13232D"/>
          </a:solidFill>
          <a:ln w="12700">
            <a:solidFill>
              <a:srgbClr val="132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5669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D2C5"/>
                </a:solidFill>
              </a:rPr>
              <a:t>WEB3 기반 사회문제 해결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26187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CallSign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157984"/>
            <a:ext cx="35844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블록체인 기반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기관 발신 인증 서비스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3493008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8E5EA"/>
                </a:solidFill>
              </a:rPr>
              <a:t>기관이 승인한 연락인지,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8E5EA"/>
                </a:solidFill>
              </a:rPr>
              <a:t>전화를 받는 순간 확인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66928" y="5943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8CF"/>
                </a:solidFill>
              </a:rPr>
              <a:t>TEAM Signal  ·  2026.09.14</a:t>
            </a:r>
            <a:endParaRPr lang="en-US" sz="1100" dirty="0"/>
          </a:p>
        </p:txBody>
      </p:sp>
      <p:pic>
        <p:nvPicPr>
          <p:cNvPr id="8" name="Image 0" descr="/home/ana/Desktop/yyw/institution-proof/artifacts/screenshots/receiver-connected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2352" y="987552"/>
            <a:ext cx="6565392" cy="49286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44968" y="5193792"/>
            <a:ext cx="3182112" cy="411480"/>
          </a:xfrm>
          <a:prstGeom prst="roundRect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36408" y="5294376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· 실제 원장 + 브라우저 연결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363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841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87F73"/>
                </a:solidFill>
              </a:rPr>
              <a:t>01  개요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42D"/>
                </a:solidFill>
              </a:rPr>
              <a:t>발신 확인과 통화 위험 안내를 한 화면에서 구분합니다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77393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3636F"/>
                </a:solidFill>
              </a:rPr>
              <a:t>기관이 승인한 연락인지 확인하고, 통화 중 위험한 요구는 별도로 안내합니다.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2395728"/>
            <a:ext cx="335584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606040"/>
            <a:ext cx="246888" cy="246888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61288" y="2569464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42D"/>
                </a:solidFill>
              </a:rPr>
              <a:t>기관 업무 시스템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13816" y="3035808"/>
            <a:ext cx="291693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3636F"/>
                </a:solidFill>
              </a:rPr>
              <a:t>대상과 목적을 지정해 개별 연락 승인서를 발급합니다. 일반 위임만으로 임의 연락을 승인하지 않습니다.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169664" y="2395728"/>
            <a:ext cx="335584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9976" y="2606040"/>
            <a:ext cx="246888" cy="246888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2569464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42D"/>
                </a:solidFill>
              </a:rPr>
              <a:t>공동 인증망과 연결 검증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389120" y="3035808"/>
            <a:ext cx="291693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3636F"/>
                </a:solidFill>
              </a:rPr>
              <a:t>기관 서명·현재 권한·수신 대상·실제 DTLS와 datachannel 문맥을 대조합니다.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7744968" y="2395728"/>
            <a:ext cx="335584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2606040"/>
            <a:ext cx="246888" cy="246888"/>
          </a:xfrm>
          <a:prstGeom prst="ellipse">
            <a:avLst/>
          </a:prstGeom>
          <a:solidFill>
            <a:srgbClr val="A15C00"/>
          </a:solidFill>
          <a:ln w="12700">
            <a:solidFill>
              <a:srgbClr val="A15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1896" y="2569464"/>
            <a:ext cx="258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42D"/>
                </a:solidFill>
              </a:rPr>
              <a:t>사용자 통화 화면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964424" y="3035808"/>
            <a:ext cx="291693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3636F"/>
                </a:solidFill>
              </a:rPr>
              <a:t>기관 인증과 통화 내용 위험 신호를 서로 다른 상태와 설명으로 보여줍니다.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594360" y="4882896"/>
            <a:ext cx="10506456" cy="713232"/>
          </a:xfrm>
          <a:prstGeom prst="roundRect">
            <a:avLst/>
          </a:prstGeom>
          <a:solidFill>
            <a:srgbClr val="13232D"/>
          </a:solidFill>
          <a:ln w="12700">
            <a:solidFill>
              <a:srgbClr val="1323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512978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4D2C5"/>
                </a:solidFill>
              </a:rPr>
              <a:t>판단 순서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01952" y="507492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기관 승인 확인  →  실제 연결 확인  →  위험 요구 분리 안내  →  공식 업무 경로 재확인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" y="620877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36F"/>
                </a:solidFill>
              </a:rPr>
              <a:t>모의 기관·합성 데이터 기반 작동형 개념검증. 실제 정부·기관·통신사 참여를 뜻하지 않음.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363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841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87F73"/>
                </a:solidFill>
              </a:rPr>
              <a:t>02  문제 정의 및 배경 · 피해 현황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42D"/>
                </a:solidFill>
              </a:rPr>
              <a:t>감소세 속에서도 10개월간 6,324억 원의 피해가 발생했습니다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5230368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6771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42D"/>
                </a:solidFill>
              </a:rPr>
              <a:t>12,554건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32688" y="3063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685F"/>
                </a:solidFill>
              </a:rPr>
              <a:t>발생 건수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212848" y="30815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3636F"/>
                </a:solidFill>
              </a:rPr>
              <a:t>전년 동기간 대비 39.9% 감소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53328" y="1874520"/>
            <a:ext cx="5047488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3368" y="226771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42D"/>
                </a:solidFill>
              </a:rPr>
              <a:t>6,324억 원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391656" y="30632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2F3B"/>
                </a:solidFill>
              </a:rPr>
              <a:t>피해액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60920" y="30815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3636F"/>
                </a:solidFill>
              </a:rPr>
              <a:t>전년 동기간 대비 43.2% 감소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" y="4498848"/>
            <a:ext cx="10241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3636F"/>
                </a:solidFill>
              </a:rPr>
              <a:t>기존 대책은 차단과 경고에서 성과를 냈습니다. CallSign이 보완하려는 질문은 연락을 받은 순간 ‘해당 기관이 이번 연락을 실제로 승인했는가’입니다.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" y="620877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36F"/>
                </a:solidFill>
              </a:rPr>
              <a:t>2025.10~2026.7 누계 · 관계부처 합동 「보이스피싱 근절 종합대책 1년 성과」, 2026.09.02 · admin.korea.kr/briefing/pressReleaseView.do?newsId=156778924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363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841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87F73"/>
                </a:solidFill>
              </a:rPr>
              <a:t>02  문제 정의 및 배경 · 기존 대응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42D"/>
                </a:solidFill>
              </a:rPr>
              <a:t>차단과 내용 경고를 보완하는 ‘통화별 기관 승인’이 필요합니다</a:t>
            </a:r>
            <a:endParaRPr lang="en-US" sz="3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74520"/>
          <a:ext cx="10972800" cy="3383280"/>
        </p:xfrm>
        <a:graphic>
          <a:graphicData uri="http://schemas.openxmlformats.org/drawingml/2006/table">
            <a:tbl>
              <a:tblPr/>
              <a:tblGrid>
                <a:gridCol w="2377440"/>
                <a:gridCol w="4251960"/>
                <a:gridCol w="4343400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7242D"/>
                          </a:solidFill>
                        </a:rPr>
                        <a:t>기존 대응</a:t>
                      </a:r>
                      <a:endParaRPr lang="en-US" sz="1420" dirty="0"/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7242D"/>
                          </a:solidFill>
                        </a:rPr>
                        <a:t>실제 작동 방식</a:t>
                      </a:r>
                      <a:endParaRPr lang="en-US" sz="1420" dirty="0"/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7242D"/>
                          </a:solidFill>
                        </a:rPr>
                        <a:t>CallSign이 보완하는 판단</a:t>
                      </a:r>
                      <a:endParaRPr lang="en-US" sz="1420" dirty="0"/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7242D"/>
                          </a:solidFill>
                        </a:rPr>
                        <a:t>범행 번호 긴급차단</a:t>
                      </a:r>
                      <a:endParaRPr lang="en-US" sz="1420" dirty="0"/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7242D"/>
                          </a:solidFill>
                        </a:rPr>
                        <a:t>경찰·통신사 협력으로 범행 번호를 빠르게 차단</a:t>
                      </a:r>
                      <a:endParaRPr lang="en-US" sz="1420" dirty="0"/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7242D"/>
                          </a:solidFill>
                        </a:rPr>
                        <a:t>개별 연락에 대한 기관 승인 여부</a:t>
                      </a:r>
                      <a:endParaRPr lang="en-US" sz="1420" dirty="0"/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7242D"/>
                          </a:solidFill>
                        </a:rPr>
                        <a:t>에이닷 전화 AI 경고</a:t>
                      </a:r>
                      <a:endParaRPr lang="en-US" sz="1420" dirty="0"/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7242D"/>
                          </a:solidFill>
                        </a:rPr>
                        <a:t>통화 키워드·대화 패턴을 분석해 팝업·소리·진동 경고</a:t>
                      </a:r>
                      <a:endParaRPr lang="en-US" sz="1420" dirty="0"/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7242D"/>
                          </a:solidFill>
                        </a:rPr>
                        <a:t>내용 위험과 별도로 발신 기관·권한 확인</a:t>
                      </a:r>
                      <a:endParaRPr lang="en-US" sz="1420" dirty="0"/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7242D"/>
                          </a:solidFill>
                        </a:rPr>
                        <a:t>문자메시지 안심마크</a:t>
                      </a:r>
                      <a:endParaRPr lang="en-US" sz="1420" dirty="0"/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7242D"/>
                          </a:solidFill>
                        </a:rPr>
                        <a:t>확인된 문자 발신자의 기관명·로고 표시</a:t>
                      </a:r>
                      <a:endParaRPr lang="en-US" sz="1420" dirty="0"/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0" dirty="0">
                          <a:solidFill>
                            <a:srgbClr val="17242D"/>
                          </a:solidFill>
                        </a:rPr>
                        <a:t>전화 승인과 실제 연결 상대 대조</a:t>
                      </a:r>
                      <a:endParaRPr lang="en-US" sz="1420" dirty="0"/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58368" y="548640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685F"/>
                </a:solidFill>
              </a:rPr>
              <a:t>보완 원칙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773936" y="5449824"/>
            <a:ext cx="9098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36F"/>
                </a:solidFill>
              </a:rPr>
              <a:t>기존 표준·차단·AI를 대체하지 않고, 승인 → 연결 → 공식 행동 사이의 빈칸을 검증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0352" y="620877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36F"/>
                </a:solidFill>
              </a:rPr>
              <a:t>출처: SKT 에이닷 전화 AI 보이스피싱 탐지(news.sktelecom.com/217274) · 공공·금융기관 안심마크 확대(yna.co.kr/view/AKR20240207101400001)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363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841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87F73"/>
                </a:solidFill>
              </a:rPr>
              <a:t>03  차별성 및 기대효과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42D"/>
                </a:solidFill>
              </a:rPr>
              <a:t>기관의 연락 승인과 공동 권한 통제에 초점을 맞춥니다</a:t>
            </a:r>
            <a:endParaRPr lang="en-US" sz="3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0972800" cy="3273552"/>
        </p:xfrm>
        <a:graphic>
          <a:graphicData uri="http://schemas.openxmlformats.org/drawingml/2006/table">
            <a:tbl>
              <a:tblPr/>
              <a:tblGrid>
                <a:gridCol w="2148840"/>
                <a:gridCol w="3749040"/>
                <a:gridCol w="507492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42D"/>
                          </a:solidFill>
                        </a:rPr>
                        <a:t>비교 기준</a:t>
                      </a:r>
                      <a:endParaRPr lang="en-US" sz="138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42D"/>
                          </a:solidFill>
                        </a:rPr>
                        <a:t>선행사례·기존 접근</a:t>
                      </a:r>
                      <a:endParaRPr lang="en-US" sz="138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42D"/>
                          </a:solidFill>
                        </a:rPr>
                        <a:t>CallSign 설계</a:t>
                      </a:r>
                      <a:endParaRPr lang="en-US" sz="138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42D"/>
                          </a:solidFill>
                        </a:rPr>
                        <a:t>출처 표시</a:t>
                      </a:r>
                      <a:endParaRPr lang="en-US" sz="138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42D"/>
                          </a:solidFill>
                        </a:rPr>
                        <a:t>문자메시지 안심마크</a:t>
                      </a:r>
                      <a:endParaRPr lang="en-US" sz="138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42D"/>
                          </a:solidFill>
                        </a:rPr>
                        <a:t>통화별 연락 승인 + 연결 상대 검증</a:t>
                      </a:r>
                      <a:endParaRPr lang="en-US" sz="138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42D"/>
                          </a:solidFill>
                        </a:rPr>
                        <a:t>내용 분석</a:t>
                      </a:r>
                      <a:endParaRPr lang="en-US" sz="138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42D"/>
                          </a:solidFill>
                        </a:rPr>
                        <a:t>AI 통화 위험 탐지</a:t>
                      </a:r>
                      <a:endParaRPr lang="en-US" sz="138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42D"/>
                          </a:solidFill>
                        </a:rPr>
                        <a:t>발신 인증과 위험 분석을 독립 표시</a:t>
                      </a:r>
                      <a:endParaRPr lang="en-US" sz="138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42D"/>
                          </a:solidFill>
                        </a:rPr>
                        <a:t>발신 인증</a:t>
                      </a:r>
                      <a:endParaRPr lang="en-US" sz="138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42D"/>
                          </a:solidFill>
                        </a:rPr>
                        <a:t>SIP Identity / RCD / STIR 위임</a:t>
                      </a:r>
                      <a:endParaRPr lang="en-US" sz="138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42D"/>
                          </a:solidFill>
                        </a:rPr>
                        <a:t>선행 표준을 참고한 기관 권한·개별 승인 검증</a:t>
                      </a:r>
                      <a:endParaRPr lang="en-US" sz="138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42D"/>
                          </a:solidFill>
                        </a:rPr>
                        <a:t>운영 권한</a:t>
                      </a:r>
                      <a:endParaRPr lang="en-US" sz="138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42D"/>
                          </a:solidFill>
                        </a:rPr>
                        <a:t>단일 운영자 변경 권한 집중 위험</a:t>
                      </a:r>
                      <a:endParaRPr lang="en-US" sz="138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42D"/>
                          </a:solidFill>
                        </a:rPr>
                        <a:t>2-of-3 중요 변경 + 3-of-4 상태 증언</a:t>
                      </a:r>
                      <a:endParaRPr lang="en-US" sz="1380" dirty="0"/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5358384"/>
            <a:ext cx="34015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4672" y="5568696"/>
            <a:ext cx="246888" cy="246888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61288" y="553212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42D"/>
                </a:solidFill>
              </a:rPr>
              <a:t>사용자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13816" y="5998464"/>
            <a:ext cx="2962656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3636F"/>
                </a:solidFill>
              </a:rPr>
              <a:t>사칭 연락 판단 지원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4224528" y="5358384"/>
            <a:ext cx="34015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5568696"/>
            <a:ext cx="246888" cy="246888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91456" y="553212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42D"/>
                </a:solidFill>
              </a:rPr>
              <a:t>기관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443984" y="5998464"/>
            <a:ext cx="2962656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3636F"/>
                </a:solidFill>
              </a:rPr>
              <a:t>발신 권한 관리·회수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7854696" y="5358384"/>
            <a:ext cx="34015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65008" y="5568696"/>
            <a:ext cx="246888" cy="246888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21624" y="5532120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42D"/>
                </a:solidFill>
              </a:rPr>
              <a:t>공동 운영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074152" y="5998464"/>
            <a:ext cx="2962656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3636F"/>
                </a:solidFill>
              </a:rPr>
              <a:t>무단 변경·침해 확산 완화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530352" y="620877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36F"/>
                </a:solidFill>
              </a:rPr>
              <a:t>기대효과는 도입 완료 사실이 아니라 검증 가설. 실제 피해 예방·기관 수요·비용 부담은 미검증.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363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841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87F73"/>
                </a:solidFill>
              </a:rPr>
              <a:t>04  서비스·솔루션 개요 · 아키텍처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42D"/>
                </a:solidFill>
              </a:rPr>
              <a:t>기관 승인서와 실제 통화를 연결해 발신 확인 결과를 제공합니다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84832"/>
            <a:ext cx="246888" cy="246888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2048256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42D"/>
                </a:solidFill>
              </a:rPr>
              <a:t>기관 업무 시스템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13816" y="2514600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3636F"/>
                </a:solidFill>
              </a:rPr>
              <a:t>대상·목적 지정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3636F"/>
                </a:solidFill>
              </a:rPr>
              <a:t>승인서 Ed25519 서명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3675888" y="1874520"/>
            <a:ext cx="24688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86200" y="2084832"/>
            <a:ext cx="246888" cy="246888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42816" y="2048256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42D"/>
                </a:solidFill>
              </a:rPr>
              <a:t>인증 API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895344" y="25146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3636F"/>
                </a:solidFill>
              </a:rPr>
              <a:t>승인서 확인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3636F"/>
                </a:solidFill>
              </a:rPr>
              <a:t>원자적 1회 소비 영수증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903720" y="1874520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14032" y="2084832"/>
            <a:ext cx="246888" cy="246888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70648" y="2048256"/>
            <a:ext cx="1563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42D"/>
                </a:solidFill>
              </a:rPr>
              <a:t>게이트웨이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123176" y="2514600"/>
            <a:ext cx="189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3636F"/>
                </a:solidFill>
              </a:rPr>
              <a:t>브라우저 로컬키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3636F"/>
                </a:solidFill>
              </a:rPr>
              <a:t>WebRTC offer·audio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9582912" y="1874520"/>
            <a:ext cx="1965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93224" y="2084832"/>
            <a:ext cx="246888" cy="246888"/>
          </a:xfrm>
          <a:prstGeom prst="ellipse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0" y="2048256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42D"/>
                </a:solidFill>
              </a:rPr>
              <a:t>사용자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802368" y="2514600"/>
            <a:ext cx="152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3636F"/>
                </a:solidFill>
              </a:rPr>
              <a:t>승인·권한·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3636F"/>
                </a:solidFill>
              </a:rPr>
              <a:t>실제 연결 확인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2980944" y="2267712"/>
            <a:ext cx="384048" cy="475488"/>
          </a:xfrm>
          <a:prstGeom prst="chevron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81344" y="2267712"/>
            <a:ext cx="384048" cy="475488"/>
          </a:xfrm>
          <a:prstGeom prst="chevron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53728" y="2267712"/>
            <a:ext cx="384048" cy="475488"/>
          </a:xfrm>
          <a:prstGeom prst="chevron">
            <a:avLst/>
          </a:prstGeom>
          <a:solidFill>
            <a:srgbClr val="087F73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95728" y="3858768"/>
            <a:ext cx="3931920" cy="1417320"/>
          </a:xfrm>
          <a:prstGeom prst="roundRect">
            <a:avLst/>
          </a:prstGeom>
          <a:solidFill>
            <a:srgbClr val="13232D"/>
          </a:solidFill>
          <a:ln w="12700">
            <a:solidFill>
              <a:srgbClr val="1323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0048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Besu 공동 인증망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2670048" y="455371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9ED"/>
                </a:solidFill>
              </a:rPr>
              <a:t>기관키 · 위임 · 취소 · 정지 · 복구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CE9ED"/>
                </a:solidFill>
              </a:rPr>
              <a:t>QBFT 4노드 + Solidity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748272" y="3858768"/>
            <a:ext cx="3063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31736" y="41330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5C00"/>
                </a:solidFill>
              </a:rPr>
              <a:t>위험 요구 안내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31736" y="455371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3636F"/>
                </a:solidFill>
              </a:rPr>
              <a:t>동의한 합성 전사문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3636F"/>
                </a:solidFill>
              </a:rPr>
              <a:t>규칙 fallback + 선택 Ollama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5394960" y="3218688"/>
            <a:ext cx="-640080" cy="585216"/>
          </a:xfrm>
          <a:prstGeom prst="line">
            <a:avLst/>
          </a:prstGeom>
          <a:noFill/>
          <a:ln w="25400">
            <a:solidFill>
              <a:srgbClr val="087F73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284464" y="3803904"/>
            <a:ext cx="1444752" cy="-585216"/>
          </a:xfrm>
          <a:prstGeom prst="line">
            <a:avLst/>
          </a:prstGeom>
          <a:noFill/>
          <a:ln w="25400">
            <a:solidFill>
              <a:srgbClr val="A15C00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30352" y="620877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36F"/>
                </a:solidFill>
              </a:rPr>
              <a:t>통화 음성·개별 승인서·수신자·전사문은 온체인 미저장. AI/규칙 미검출은 안전 보장이 아니며 인증 결과를 변경하지 않음.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363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841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87F73"/>
                </a:solidFill>
              </a:rPr>
              <a:t>05  핵심기술 스택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42D"/>
                </a:solidFill>
              </a:rPr>
              <a:t>핵심 인증 기술과 데모 통화·보조 분석을 구분합니다</a:t>
            </a:r>
            <a:endParaRPr lang="en-US" sz="3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10512"/>
          <a:ext cx="10972800" cy="4160520"/>
        </p:xfrm>
        <a:graphic>
          <a:graphicData uri="http://schemas.openxmlformats.org/drawingml/2006/table">
            <a:tbl>
              <a:tblPr/>
              <a:tblGrid>
                <a:gridCol w="1645920"/>
                <a:gridCol w="3383280"/>
                <a:gridCol w="59436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구분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실제 기술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적용 내용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공동 인증망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Hyperledger Besu 26.8.1 / QBFT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기관·위임·정지·복구 상태 합의, validator 4개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권한 관리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Solidity 0.8.30 / Foundry 1.7.1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기관별 권한, 취소, 2-of-3 공동 복구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연락 인증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Ed25519 JWS / RFC 8785 JCS / EIP-712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개별 승인서·영수증·상태 증언·관리 서명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데모 통화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WebRTC BUNDLE / WebSocket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실제 두 브라우저 DTLS·datachannel·audio 연결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서비스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React 19 / Vite / Fastify 5 / PostgreSQL 17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사용자·기관 화면, 세션, 승인서 1회 소비, 객체 권한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위험 분석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TypeScript rules + Ollama HTTP adapter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20" dirty="0">
                          <a:solidFill>
                            <a:srgbClr val="17242D"/>
                          </a:solidFill>
                        </a:rPr>
                        <a:t>합성 전사문 근거 검사; 로컬 모델 없으면 규칙으로 표시</a:t>
                      </a:r>
                      <a:endParaRPr lang="en-US" sz="132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0352" y="620877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36F"/>
                </a:solidFill>
              </a:rPr>
              <a:t>실제 도입 시 추가: 기관 업무시스템·전화망 세션 식별 연동, 단말 표시, TLS/TURN, 키 보관·회전. 현재 검증 환경은 localhost Chromium.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363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841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87F73"/>
                </a:solidFill>
              </a:rPr>
              <a:t>06  프로젝트 구현 계획 · 블록체인 적용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42D"/>
                </a:solidFill>
              </a:rPr>
              <a:t>한 운영자의 침해가 다른 기관의 사칭으로 번지는 경로를 줄입니다</a:t>
            </a:r>
            <a:endParaRPr lang="en-US" sz="3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7022592" cy="3611880"/>
        </p:xfrm>
        <a:graphic>
          <a:graphicData uri="http://schemas.openxmlformats.org/drawingml/2006/table">
            <a:tbl>
              <a:tblPr/>
              <a:tblGrid>
                <a:gridCol w="2057400"/>
                <a:gridCol w="49651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17242D"/>
                          </a:solidFill>
                        </a:rPr>
                        <a:t>통제 항목</a:t>
                      </a:r>
                      <a:endParaRPr lang="en-US" sz="1310" dirty="0"/>
                    </a:p>
                  </a:txBody>
                  <a:tcPr marL="100584" marR="100584" marT="100584" marB="100584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17242D"/>
                          </a:solidFill>
                        </a:rPr>
                        <a:t>실제 구현</a:t>
                      </a:r>
                      <a:endParaRPr lang="en-US" sz="1310" dirty="0"/>
                    </a:p>
                  </a:txBody>
                  <a:tcPr marL="100584" marR="100584" marT="100584" marB="100584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17242D"/>
                          </a:solidFill>
                        </a:rPr>
                        <a:t>기관별 권한 분리</a:t>
                      </a:r>
                      <a:endParaRPr lang="en-US" sz="1310" dirty="0"/>
                    </a:p>
                  </a:txBody>
                  <a:tcPr marL="100584" marR="100584" marT="100584" marB="100584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17242D"/>
                          </a:solidFill>
                        </a:rPr>
                        <a:t>자기 기관의 관리자·정지키·위탁 발신 범위만 변경</a:t>
                      </a:r>
                      <a:endParaRPr lang="en-US" sz="1310" dirty="0"/>
                    </a:p>
                  </a:txBody>
                  <a:tcPr marL="100584" marR="100584" marT="100584" marB="100584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17242D"/>
                          </a:solidFill>
                        </a:rPr>
                        <a:t>중요 변경 공동 승인</a:t>
                      </a:r>
                      <a:endParaRPr lang="en-US" sz="1310" dirty="0"/>
                    </a:p>
                  </a:txBody>
                  <a:tcPr marL="100584" marR="100584" marT="100584" marB="100584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17242D"/>
                          </a:solidFill>
                        </a:rPr>
                        <a:t>기관 등록·복구는 서로 다른 승인자 2/3 EIP-712 서명</a:t>
                      </a:r>
                      <a:endParaRPr lang="en-US" sz="1310" dirty="0"/>
                    </a:p>
                  </a:txBody>
                  <a:tcPr marL="100584" marR="100584" marT="100584" marB="100584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17242D"/>
                          </a:solidFill>
                        </a:rPr>
                        <a:t>공통 상태 합의</a:t>
                      </a:r>
                      <a:endParaRPr lang="en-US" sz="1310" dirty="0"/>
                    </a:p>
                  </a:txBody>
                  <a:tcPr marL="100584" marR="100584" marT="100584" marB="100584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17242D"/>
                          </a:solidFill>
                        </a:rPr>
                        <a:t>Besu QBFT 4노드로 변경 순서와 확정 상태 공유</a:t>
                      </a:r>
                      <a:endParaRPr lang="en-US" sz="1310" dirty="0"/>
                    </a:p>
                  </a:txBody>
                  <a:tcPr marL="100584" marR="100584" marT="100584" marB="100584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17242D"/>
                          </a:solidFill>
                        </a:rPr>
                        <a:t>검증 경로 분산</a:t>
                      </a:r>
                      <a:endParaRPr lang="en-US" sz="1310" dirty="0"/>
                    </a:p>
                  </a:txBody>
                  <a:tcPr marL="100584" marR="100584" marT="100584" marB="100584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17242D"/>
                          </a:solidFill>
                        </a:rPr>
                        <a:t>각자 자기 노드를 읽는 witness 4곳 중 동일 상태 3곳 서명</a:t>
                      </a:r>
                      <a:endParaRPr lang="en-US" sz="1310" dirty="0"/>
                    </a:p>
                  </a:txBody>
                  <a:tcPr marL="100584" marR="100584" marT="100584" marB="100584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17242D"/>
                          </a:solidFill>
                        </a:rPr>
                        <a:t>우회 권한 제한</a:t>
                      </a:r>
                      <a:endParaRPr lang="en-US" sz="1310" dirty="0"/>
                    </a:p>
                  </a:txBody>
                  <a:tcPr marL="100584" marR="100584" marT="100584" marB="100584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10" dirty="0">
                          <a:solidFill>
                            <a:srgbClr val="17242D"/>
                          </a:solidFill>
                        </a:rPr>
                        <a:t>super-admin·임의 업그레이드·반복 정지 epoch 증가 경로 없음</a:t>
                      </a:r>
                      <a:endParaRPr lang="en-US" sz="1310" dirty="0"/>
                    </a:p>
                  </a:txBody>
                  <a:tcPr marL="100584" marR="100584" marT="100584" marB="100584">
                    <a:lnL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828800"/>
            <a:ext cx="3520440" cy="1417320"/>
          </a:xfrm>
          <a:prstGeom prst="roundRect">
            <a:avLst/>
          </a:prstGeom>
          <a:solidFill>
            <a:srgbClr val="E4F4F1"/>
          </a:solidFill>
          <a:ln w="12700">
            <a:solidFill>
              <a:srgbClr val="087F7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83880" y="2103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685F"/>
                </a:solidFill>
              </a:rPr>
              <a:t>온체인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183880" y="24871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7242D"/>
                </a:solidFill>
              </a:rPr>
              <a:t>기관 공개키 · 위임 · 만료·취소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42D"/>
                </a:solidFill>
              </a:rPr>
              <a:t>정지·복구 epoch · 디렉터리 hash</a:t>
            </a:r>
            <a:endParaRPr lang="en-US" sz="1320" dirty="0"/>
          </a:p>
        </p:txBody>
      </p:sp>
      <p:sp>
        <p:nvSpPr>
          <p:cNvPr id="8" name="Shape 5"/>
          <p:cNvSpPr/>
          <p:nvPr/>
        </p:nvSpPr>
        <p:spPr>
          <a:xfrm>
            <a:off x="7909560" y="3547872"/>
            <a:ext cx="35204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83880" y="382219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42D"/>
                </a:solidFill>
              </a:rPr>
              <a:t>오프체인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183880" y="42062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53636F"/>
                </a:solidFill>
              </a:rPr>
              <a:t>개별 승인서 · 수신자 · 업무 상세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53636F"/>
                </a:solidFill>
              </a:rPr>
              <a:t>WebRTC SDP · 전사문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658368" y="5669280"/>
            <a:ext cx="10287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3636F"/>
                </a:solidFill>
              </a:rPr>
              <a:t>중앙 DB로도 인증은 가능합니다. QBFT는 다자간 권한 통제와 상태 변경 순서의 공동 집행이 필요하다는 가설에만 채택합니다.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30352" y="620877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36F"/>
                </a:solidFill>
              </a:rPr>
              <a:t>P0은 네이티브 light client가 아닌 별도 3-of-4 witness 신뢰 프로파일. 정상 quorum 공모와 공통 RPC 오동작은 보호 범위 밖.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363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841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87F73"/>
                </a:solidFill>
              </a:rPr>
              <a:t>06  프로젝트 구현 계획 · 개발 일정과 최종 목표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42D"/>
                </a:solidFill>
              </a:rPr>
              <a:t>최종 목표는 승인부터 회수·복구까지 이어지는 통합 데모입니다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2542032" cy="3364992"/>
          </a:xfrm>
          <a:prstGeom prst="roundRect">
            <a:avLst/>
          </a:prstGeom>
          <a:solidFill>
            <a:srgbClr val="E4F4F1"/>
          </a:solidFill>
          <a:ln w="25400">
            <a:solidFill>
              <a:srgbClr val="087F7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13969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685F"/>
                </a:solidFill>
              </a:rPr>
              <a:t>완료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2542032"/>
            <a:ext cx="2121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42D"/>
                </a:solidFill>
              </a:rPr>
              <a:t>신청 · 09.14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9808" y="3310128"/>
            <a:ext cx="2103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3636F"/>
                </a:solidFill>
              </a:rPr>
              <a:t>문제·아키텍처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3636F"/>
                </a:solidFill>
              </a:rPr>
              <a:t>11쪽 PPT/PDF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3636F"/>
                </a:solidFill>
              </a:rPr>
              <a:t>작동 데모 증빙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429000" y="1920240"/>
            <a:ext cx="2542032" cy="3364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13969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636F"/>
                </a:solidFill>
              </a:rPr>
              <a:t>검증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11880" y="2542032"/>
            <a:ext cx="2121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42D"/>
                </a:solidFill>
              </a:rPr>
              <a:t>멘토링 전반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11880" y="3310128"/>
            <a:ext cx="2103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3636F"/>
                </a:solidFill>
              </a:rPr>
              <a:t>사용자·기관 인터뷰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3636F"/>
                </a:solidFill>
              </a:rPr>
              <a:t>표시·운영 절차 검토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3636F"/>
                </a:solidFill>
              </a:rPr>
              <a:t>전송 지원 범위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91072" y="1920240"/>
            <a:ext cx="2542032" cy="3364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213969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636F"/>
                </a:solidFill>
              </a:rPr>
              <a:t>확장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73952" y="2542032"/>
            <a:ext cx="2121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42D"/>
                </a:solidFill>
              </a:rPr>
              <a:t>멘토링 후반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473952" y="3310128"/>
            <a:ext cx="2103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3636F"/>
                </a:solidFill>
              </a:rPr>
              <a:t>공격 시나리오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3636F"/>
                </a:solidFill>
              </a:rPr>
              <a:t>규칙/LLM 비교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3636F"/>
                </a:solidFill>
              </a:rPr>
              <a:t>비용·연동 조건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153144" y="1920240"/>
            <a:ext cx="2542032" cy="3364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36024" y="213969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636F"/>
                </a:solidFill>
              </a:rPr>
              <a:t>목표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36024" y="2542032"/>
            <a:ext cx="2121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42D"/>
                </a:solidFill>
              </a:rPr>
              <a:t>본선 · 11.06–07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336024" y="3310128"/>
            <a:ext cx="21031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3636F"/>
                </a:solidFill>
              </a:rPr>
              <a:t>통합 검증·UI 개선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3636F"/>
                </a:solidFill>
              </a:rPr>
              <a:t>실행 데모·발표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3636F"/>
                </a:solidFill>
              </a:rPr>
              <a:t>GitHub 결과 확정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8368" y="55595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685F"/>
                </a:solidFill>
              </a:rPr>
              <a:t>현재 구현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83080" y="5522976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36F"/>
                </a:solidFill>
              </a:rPr>
              <a:t>Besu 4노드 · witness 4개 · 승인/소비 · 두 브라우저 WebRTC · 실제 취소·2-of-3 복구 · 공식 업무 권한 · 규칙 위험 안내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0352" y="620877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36F"/>
                </a:solidFill>
              </a:rPr>
              <a:t>공식 일정: 접수 9.14 · OT/멘토링 시작 9.19 · 멘토링 ~11.5 · 본선 11.6–7 (blockhack.kr, 2026.09.14 확인).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363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841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87F73"/>
                </a:solidFill>
              </a:rPr>
              <a:t>07  팀 구성 및 역할 분담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42D"/>
                </a:solidFill>
              </a:rPr>
              <a:t>코어 보안 구현과 사용자 경험을 두 축으로 나눕니다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847088"/>
            <a:ext cx="5340096" cy="3822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1579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42D"/>
                </a:solidFill>
              </a:rPr>
              <a:t>양영우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932688" y="26517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5685F"/>
                </a:solidFill>
              </a:rPr>
              <a:t>충남대학교 컴퓨터융합학부 · 블록체인 복수전공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32688" y="3127248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36F"/>
                </a:solidFill>
              </a:rPr>
              <a:t>아키텍처 및 코어 개발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3636F"/>
                </a:solidFill>
              </a:rPr>
              <a:t>기관 인증·권한 관리 · 백엔드 API · 보안 검증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3636F"/>
                </a:solidFill>
              </a:rPr>
              <a:t>Rust · Python · Foundry · Docker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4498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D"/>
                </a:solidFill>
              </a:rPr>
              <a:t>주요 경험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482803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3636F"/>
                </a:solidFill>
              </a:rPr>
              <a:t>Grandine·Lighthouse·Foundry 오픈소스 기여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53636F"/>
                </a:solidFill>
              </a:rPr>
              <a:t>KAIST OraKle 8기 학회원·9기 학회장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53636F"/>
                </a:solidFill>
              </a:rPr>
              <a:t>Avalanche Team1 Korea Collaborator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190488" y="1847088"/>
            <a:ext cx="5340096" cy="3822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21579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42D"/>
                </a:solidFill>
              </a:rPr>
              <a:t>이가은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528816" y="26517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5685F"/>
                </a:solidFill>
              </a:rPr>
              <a:t>충남대학교 컴퓨터융합학부 · 클라우드 부전공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28816" y="3127248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36F"/>
                </a:solidFill>
              </a:rPr>
              <a:t>UX 및 프론트엔드 개발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3636F"/>
                </a:solidFill>
              </a:rPr>
              <a:t>사용자 UI·관리자 화면 · API 연동 · 데모 UX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3636F"/>
                </a:solidFill>
              </a:rPr>
              <a:t>Next.js · TypeScript · Python · Figma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28816" y="4498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2D"/>
                </a:solidFill>
              </a:rPr>
              <a:t>주요 경험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28816" y="4828032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3636F"/>
                </a:solidFill>
              </a:rPr>
              <a:t>대전교통공사 RAG 챗봇·열차 민원 시스템 개발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53636F"/>
                </a:solidFill>
              </a:rPr>
              <a:t>UNLV Engineering Experiential and Cultural Program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53636F"/>
                </a:solidFill>
              </a:rPr>
              <a:t>CNU 창의 SW/AI 축전 대상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530352" y="620877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36F"/>
                </a:solidFill>
              </a:rPr>
              <a:t>팀원·소속·역할·경험은 사용자 제공 정보. 대표자 연락처와 개인 GitHub ID는 공개 제안서에 넣지 않음.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363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8412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087F73"/>
                </a:solidFill>
              </a:rPr>
              <a:t>08  개발증빙 및 레퍼런스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111556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242D"/>
                </a:solidFill>
              </a:rPr>
              <a:t>소스·자동 시험·실제 실행 화면으로 구현 범위를 증명합니다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440680" cy="3986784"/>
          </a:xfrm>
          <a:prstGeom prst="roundRect">
            <a:avLst/>
          </a:prstGeom>
          <a:solidFill>
            <a:srgbClr val="13232D"/>
          </a:solidFill>
          <a:ln w="12700">
            <a:solidFill>
              <a:srgbClr val="132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실제 개발증빙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526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DCE9ED"/>
                </a:solidFill>
              </a:rPr>
              <a:t>• Foundry 계약 5/5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DCE9ED"/>
                </a:solidFill>
              </a:rPr>
              <a:t>• Vitest 프로토콜·위험 분석 20/20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DCE9ED"/>
                </a:solidFill>
              </a:rPr>
              <a:t>• PostgreSQL/API 통합 10/10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DCE9ED"/>
                </a:solidFill>
              </a:rPr>
              <a:t>• Playwright 11/11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DCE9ED"/>
                </a:solidFill>
              </a:rPr>
              <a:t>• QBFT 4노드 동일 block/code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DCE9ED"/>
                </a:solidFill>
              </a:rPr>
              <a:t>• witness 1개 중단 제공 / 2개 중단 503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DCE9ED"/>
                </a:solidFill>
              </a:rPr>
              <a:t>• WebRTC·revoke·2-of-3 복구 LIVE 캡처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914400" y="52303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4D2C5"/>
                </a:solidFill>
              </a:rPr>
              <a:t>선택 제출 · GitHub 소스코드 1건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5321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9ED"/>
                </a:solidFill>
              </a:rPr>
              <a:t>github.com/0u-Y/CallSign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221224" cy="3986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0256" y="21488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7242D"/>
                </a:solidFill>
              </a:rPr>
              <a:t>주요 출처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620256" y="2660904"/>
            <a:ext cx="4315968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53636F"/>
                </a:solidFill>
              </a:rPr>
              <a:t>피해·사례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53636F"/>
                </a:solidFill>
              </a:rPr>
              <a:t>정부합동 보이스피싱 대책 1년 성과 · 2026.09.02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53636F"/>
                </a:solidFill>
              </a:rPr>
              <a:t>SKT 에이닷 전화 AI 보이스피싱 탐지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53636F"/>
                </a:solidFill>
              </a:rPr>
              <a:t>공공·금융기관 문자 안심마크 확대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53636F"/>
                </a:solidFill>
              </a:rPr>
              <a:t>발신·연결 표준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53636F"/>
                </a:solidFill>
              </a:rPr>
              <a:t>RFC 8224 SIP Identity · RFC 9795 RCD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53636F"/>
                </a:solidFill>
              </a:rPr>
              <a:t>RFC 9060 STIR 위임 · W3C WebRTC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53636F"/>
                </a:solidFill>
              </a:rPr>
              <a:t>구현 기술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53636F"/>
                </a:solidFill>
              </a:rPr>
              <a:t>Besu QBFT · EIP-712 · RFC 8785 JCS</a:t>
            </a:r>
            <a:endParaRPr lang="en-US" sz="1260" dirty="0"/>
          </a:p>
        </p:txBody>
      </p:sp>
      <p:sp>
        <p:nvSpPr>
          <p:cNvPr id="12" name="Text 10"/>
          <p:cNvSpPr/>
          <p:nvPr/>
        </p:nvSpPr>
        <p:spPr>
          <a:xfrm>
            <a:off x="6620256" y="53949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685F"/>
                </a:solidFill>
              </a:rPr>
              <a:t>코드 경로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88352" y="536752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36F"/>
                </a:solidFill>
              </a:rPr>
              <a:t>contracts/src · services/api · packages/verifier · tests/e2e · artifacts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30352" y="6208776"/>
            <a:ext cx="10625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36F"/>
                </a:solidFill>
              </a:rPr>
              <a:t>상세 URL: admin.korea.kr/...newsId=156778924 · news.sktelecom.com/217274 · yna.co.kr/view/AKR20240207101400001 · rfc-editor.org · docs.besu-eth.org · eips.ethereum.org/EIPS/eip-712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3796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363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TEAM Signal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CallSign 기획제안서</dc:title>
  <dc:subject>블록체인 기반 기관 발신 인증 서비스 기획제안서</dc:subject>
  <dc:creator>TEAM Signal</dc:creator>
  <cp:lastModifiedBy>TEAM Signal</cp:lastModifiedBy>
  <cp:revision>1</cp:revision>
  <dcterms:created xsi:type="dcterms:W3CDTF">2026-09-14T10:47:33Z</dcterms:created>
  <dcterms:modified xsi:type="dcterms:W3CDTF">2026-09-14T10:47:33Z</dcterms:modified>
</cp:coreProperties>
</file>